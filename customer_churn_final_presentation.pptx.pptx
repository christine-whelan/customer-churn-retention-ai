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A8DC3E-3652-4C73-B05F-7F8B9DD8F9F2}">
  <a:tblStyle styleId="{EFA8DC3E-3652-4C73-B05F-7F8B9DD8F9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7b896ca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7b896ca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b896ca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7b896ca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7b896caf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7b896caf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95b21f5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95b21f5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5b21f5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5b21f5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7a85ed014_0_1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7a85ed014_0_19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97a85ed014_0_19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7a85ed014_0_2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7a85ed014_0_20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7a85ed014_0_20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a85ed014_0_2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97a85ed014_0_20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7a85ed014_0_20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7a85ed014_0_2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7a85ed014_0_24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7a85ed014_0_24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7a85ed014_0_2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7a85ed014_0_2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7a85ed014_0_2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7a85ed014_0_3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97a85ed014_0_30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7a85ed014_0_30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7a85ed014_0_3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7a85ed014_0_3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7a85ed014_0_3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95b21f50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95b21f50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95b21f5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95b21f5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7b88199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7b8819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7b88199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7b88199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7b881995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7b881995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hurn-chatbot.vercel.app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Data 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548640" y="73152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IBM Telco Customer Churn Dataset via HuggingFace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548640" y="10972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548640" y="1417320"/>
            <a:ext cx="3840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7,043 customer records across train/validation/test splits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33 original features covering demographics, services, billing, and account info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Binary target: Churn (0 = Stayed, 1 = Churned)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~27% churn rate (class imbalance addressed with SDV + class weighting)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Source: HuggingFace aai510-group1/telco-customer-churn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4937760" y="10972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Structured Data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4937760" y="1417320"/>
            <a:ext cx="3840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Demographics: Age, Gender, Senior Citizen, Dependents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Services: Phone, Internet, Online Security, Streaming, etc.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Account: Contract type, Payment Method, Monthly Charge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Tenure: Months with company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Engineered: Total Services, Charge Per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548640" y="3749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12 Leakage Columns Removed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548640" y="4023360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Satisfaction Score, Total Charges, Total Revenue, Total Refunds, Total Long Distance Charges, Total Extra Data Charges, CLTV, Customer Status, Churn Score, Churn Label, Churn Category, Churn Reason — all encode post-outcome information and cause 100% accuracy (data leakage).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Data Limitations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548640" y="1097280"/>
            <a:ext cx="8046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California-only dataset — no geographic diversity, State column has minimal predictive 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unstructured data (call transcripts, chat logs, emails) — all features are tabular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actual revenue or cost data after leakage removal — cannot calculate true ROI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Synthetic data quality: KS tests failed 3 of 4 continuous features — SDV distributions don't perfectly match originals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temporal dimension — dataset is a single snapshot, not a time series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Churn is binary — no information on partial churn, service downgrades, or win-back events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Interventions are simulated, not validated with real customer outcomes — causal assumptions untested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548640" y="411480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Mitigation: We compared SDV-augmented model against class-weighted-only control to isolate whether synthetic data actually helped. We used counterfactual simulations with statistical testing rather than unsourced industry benchmarks.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Modeling Approach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548640" y="73152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End-to-end pipeline from raw data to personalized retention offers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64008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64008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36576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36576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Leakage identification, target analysis, feature exploration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182880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182880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155448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155448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Total Services, Charge Per Service, encoding, leakage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301752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301752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274320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274320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LR, RF, XGBoost with class balancing + sanity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420624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420624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393192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393192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RandomizedSearchCV (50 iter, 5-fold CV), SHAP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539496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539496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512064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SDV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512064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Synthetic minority oversampling, 4-way model 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658368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658368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630936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630936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Risk tiers, SHAP profiles, LLM retention messaging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7772400" y="1280160"/>
            <a:ext cx="411600" cy="411600"/>
          </a:xfrm>
          <a:prstGeom prst="ellipse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7772400" y="12801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7498080" y="1783080"/>
            <a:ext cx="96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7498080" y="2011680"/>
            <a:ext cx="96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Counterfactual simulations, A/B testing, model export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48640" y="30175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XGBoost?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548640" y="3337560"/>
            <a:ext cx="384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Best F1 and AUC-ROC across all baselines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Handles non-linear feature interactions natively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Built-in regularization prevents overfitting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Pairs with SHAP for per-customer explainability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Industry standard for tabular churn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4937760" y="30175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Decisions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4937760" y="3337560"/>
            <a:ext cx="384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Removed 12 leakage columns (fixed 100% accuracy)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SDV on pre-encoded data (prevents fractional dummies)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scale_pos_weight reset to 1 after SDV balancing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Risk tiers instead of binary prediction (avoids threshold conflict)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Counterfactual simulations replace unsourced benchmarks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Exploratory Data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48640" y="73152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Key patterns discovered before modeling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457200" y="1188720"/>
            <a:ext cx="2560200" cy="25602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594360" y="128016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Contract Type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594360" y="16002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#1 Differentiator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594360" y="1965960"/>
            <a:ext cx="2286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Month-to-month customers churn at 2-3x the rate of annual contract customers. This is the single strongest signal in the dataset.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3291840" y="1188720"/>
            <a:ext cx="2560200" cy="25602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3429000" y="128016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Tenure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3429000" y="16002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&lt; 12 Months = Danger Zone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3429000" y="1965960"/>
            <a:ext cx="2286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New customers are most vulnerable. Churn rate drops significantly after the first year, suggesting onboarding and early engagement are critical.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6126480" y="1188720"/>
            <a:ext cx="2560200" cy="25602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6263640" y="128016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Service Stacking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263640" y="16002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More Services = Lower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263640" y="1965960"/>
            <a:ext cx="2286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Customers with 4+ services churn far less than single-service customers. Each additional service increases switching cost.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548640" y="402336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After removing leakage features, the model must rely on behavioral and contractual signals — not satisfaction scores that simply mirror the outcome.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Actually Drives Churn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548640" y="73152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Top 10 global SHAP drivers from the final augmented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457200" y="1097280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Contract: Two 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2834640" y="1133856"/>
            <a:ext cx="41148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6995160" y="1097280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0.58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457200" y="1426464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Number of Referrals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2834640" y="1463040"/>
            <a:ext cx="34053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6285712" y="1426464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0.48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457200" y="175564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Contract: One 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2834640" y="1792224"/>
            <a:ext cx="29796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5860043" y="1755648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457200" y="2084832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Tenure in Months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2834640" y="2121408"/>
            <a:ext cx="26958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5576263" y="20848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0.38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457200" y="2414016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Monthly Charge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2834640" y="2450592"/>
            <a:ext cx="21282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/>
          <p:nvPr/>
        </p:nvSpPr>
        <p:spPr>
          <a:xfrm>
            <a:off x="5008705" y="2414016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457200" y="2743200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Number of Dependents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2834640" y="2779776"/>
            <a:ext cx="15609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4441146" y="2743200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457200" y="3072384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Internet: Fiber Optic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2834640" y="3108960"/>
            <a:ext cx="14190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4299257" y="3072384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457200" y="340156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Dependents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2834640" y="3438144"/>
            <a:ext cx="12771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4157367" y="3401568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57200" y="3730752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Avg Monthly GB Download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2834640" y="3767328"/>
            <a:ext cx="10641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3944532" y="373075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457200" y="4059936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Referred a Friend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2834640" y="4096512"/>
            <a:ext cx="851400" cy="183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3731698" y="4059936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0.12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7315200" y="109728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7315200" y="141732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Contract type dominates — long-term contracts are the strongest protective factor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Referrals signal loyalty (but our A/B test shows forcing referrals backfires)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Tenure confirms the first-year danger zone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Monthly Charge matters — higher bills correlate with higher churn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Model Performance &amp; Validation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548640" y="73152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Four-way comparison isolates the contribution of each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" name="Google Shape;221;p26"/>
          <p:cNvGraphicFramePr/>
          <p:nvPr/>
        </p:nvGraphicFramePr>
        <p:xfrm>
          <a:off x="54864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{EFA8DC3E-3652-4C73-B05F-7F8B9DD8F9F2}</a:tableStyleId>
              </a:tblPr>
              <a:tblGrid>
                <a:gridCol w="1371600"/>
                <a:gridCol w="1463050"/>
                <a:gridCol w="1463050"/>
                <a:gridCol w="1828800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Tuned + Weighted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Augmented (SDV)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~0.78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~0.79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~0.64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~0.62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~0.65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~0.72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~0.76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~0.78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Score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~0.65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~0.69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~0.69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~0.72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~0.83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~0.86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~0.86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u="none" cap="none" strike="noStrike">
                          <a:solidFill>
                            <a:srgbClr val="3333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~0.87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6"/>
          <p:cNvSpPr/>
          <p:nvPr/>
        </p:nvSpPr>
        <p:spPr>
          <a:xfrm>
            <a:off x="548640" y="338328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Note: Replace these approximate values with your actual notebook output. The exact numbers will depend on your random seed and SDV generation.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548640" y="37490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Validation Approach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548640" y="4023360"/>
            <a:ext cx="804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RandomizedSearchCV: 50 iterations, 5-fold cross-validation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CV F1 and test F1 reported side by side for generalization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Four-way comparison isolates SDV contribution vs class weighting alone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E24B4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Counterfactual simulations + Mann-Whitney U for intervention 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/>
          <p:nvPr/>
        </p:nvSpPr>
        <p:spPr>
          <a:xfrm>
            <a:off x="548640" y="27432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Customer Journey — Live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548640" y="73152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One customer, end to 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457200" y="1097280"/>
            <a:ext cx="365700" cy="3657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>
            <a:off x="457200" y="10972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914400" y="10972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 enters chat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914400" y="146304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Customer ID loaded, profile retrieved from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3291840" y="1097280"/>
            <a:ext cx="365700" cy="3657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/>
          <p:nvPr/>
        </p:nvSpPr>
        <p:spPr>
          <a:xfrm>
            <a:off x="3291840" y="10972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3749040" y="10972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Risk scored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3749040" y="146304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XGBoost predicts 72% churn probability → HIGH risk 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6126480" y="1097280"/>
            <a:ext cx="365700" cy="3657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6126480" y="10972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6583680" y="10972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SHAP explains why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6583680" y="146304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Top drivers: month-to-month contract, low tenure, no online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457200" y="2926080"/>
            <a:ext cx="365700" cy="3657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457200" y="29260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914400" y="29260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Simulation runs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914400" y="329184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6 interventions tested — contract upgrade shows -28.7% churn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3291840" y="2926080"/>
            <a:ext cx="365700" cy="3657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3291840" y="29260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749040" y="29260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Diagnosis asks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3749040" y="329184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Bot asks targeted questions based on SHAP drivers, not a 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6126480" y="2926080"/>
            <a:ext cx="365700" cy="365700"/>
          </a:xfrm>
          <a:prstGeom prst="ellipse">
            <a:avLst/>
          </a:prstGeom>
          <a:solidFill>
            <a:srgbClr val="E24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6126480" y="29260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6583680" y="29260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offer delivered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6583680" y="329184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"Switch to annual plan and save 25% — plus free Tech Support for 3 months"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548640" y="429768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Live chatbot: </a:t>
            </a:r>
            <a:r>
              <a:rPr b="1" i="0" lang="en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churn-chatbot.vercel.app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/>
        </p:nvSpPr>
        <p:spPr>
          <a:xfrm>
            <a:off x="258425" y="316775"/>
            <a:ext cx="6393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Limitations &amp; Risks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341075" y="900275"/>
            <a:ext cx="7580100" cy="3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Data Limitations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There is no variation in geography. Dataset is California only.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unstructured data (calls, chats, complaints) → missing customer context.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true revenue/cost data → ROI is estimated, not actual.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time-series behavior —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&gt; cannot capture churn trends over time.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Modeling &amp; Technical Risks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Synthetic data (SDV) imperfect → distribution mismatch in some features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Counterfactual simulations assume causality → requires A/B testing validation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 done pre-split → not production-ready pipeline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 depends on feature availability in real systems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&amp; Adoption Risks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integration with CRM + customer data systems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low adoption by call center agents if workflow is too complex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Templated offers may not reflect real pricing/marketing constraints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Ethical &amp; AI Risks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model bias across customer groups.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over-targeting vulnerable users.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LLM-generated responses may introduce hallucinations or misleading messaging.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human oversight in high-risk interventions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/>
          <p:nvPr/>
        </p:nvSpPr>
        <p:spPr>
          <a:xfrm>
            <a:off x="258425" y="316775"/>
            <a:ext cx="6393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Future Enhancements &amp; Roadmap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341075" y="900275"/>
            <a:ext cx="7580100" cy="3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Integration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CRM systems (Salesforce, HubSpot)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scoring through API deployment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fitted encoders + live data pipelines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Smarter Personalization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actual retention offer catalog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pricing + promotion optimization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LLM-powered conversation + negotiation flows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Data Sources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call center transcripts, chat logs, emails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NLP for sentiment + intent detection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temporal behavior (customer lifecycle)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&amp; Experimentation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A/B testing on retention strategies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causal impact of interventions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true ROI and revenue lift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 Capabilities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critic loop to evaluate message effectiveness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 customer responses to offers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Continous learning from real outcomes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/>
        </p:nvSpPr>
        <p:spPr>
          <a:xfrm>
            <a:off x="211675" y="306900"/>
            <a:ext cx="333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Conclusions &amp; Takeaways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211675" y="1073150"/>
            <a:ext cx="3492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Problem: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Customer churn is costly, reactive, and poorly targeted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Businesses lack actionable, explainable insights.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291175" y="2571750"/>
            <a:ext cx="3550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Our Solution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End-to-end system combining: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Predictive Modeling (XGBoost)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Explainability (SHAP)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Simulation (Counterfactual testing)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AI-driven customer engagement.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2"/>
          <p:cNvSpPr txBox="1"/>
          <p:nvPr/>
        </p:nvSpPr>
        <p:spPr>
          <a:xfrm>
            <a:off x="4445050" y="1073150"/>
            <a:ext cx="4307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Why it Matters: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Moves from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→ 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Enables targeted, data-driven retention strategies.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Prioritizzes high-risk customers with measurable impact.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2"/>
          <p:cNvSpPr txBox="1"/>
          <p:nvPr/>
        </p:nvSpPr>
        <p:spPr>
          <a:xfrm>
            <a:off x="4487350" y="2571750"/>
            <a:ext cx="42228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Makes This Different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data leakage → realistic performance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Four-model comparison isolates true improvements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Probability-weighted revenue at risk (not inflated estimates)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simulations instead of generic benchmarks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ML + LLM into a decision system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